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148840" y="566928"/>
            <a:ext cx="2834640" cy="420624"/>
          </a:xfrm>
          <a:prstGeom prst="roundRect">
            <a:avLst>
              <a:gd name="adj" fmla="val 50000"/>
            </a:avLst>
          </a:prstGeom>
          <a:solidFill>
            <a:srgbClr val="103FEF"/>
          </a:solidFill>
          <a:ln/>
        </p:spPr>
      </p:sp>
      <p:sp>
        <p:nvSpPr>
          <p:cNvPr id="4" name="Text 2"/>
          <p:cNvSpPr/>
          <p:nvPr/>
        </p:nvSpPr>
        <p:spPr>
          <a:xfrm>
            <a:off x="2148840" y="56692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 INNOVATION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crises, one front door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 of housing in New York City — and the scattered information standing between tenants and the help that already exists.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0749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07492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79676" y="50749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79676" y="507492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HRA / DSS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10712" y="50749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507492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NYCHA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1748" y="50749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1748" y="507492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72784" y="50749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507492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03820" y="50749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03820" y="507492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 HCR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34856" y="50749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34856" y="507492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OTDA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565892" y="50749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65892" y="507492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Housing Court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Eight-plus systems, one tenant. · NYC housing portal rebuild ·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housing market with no slack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 NYC Housing &amp; Vacancy Survey and conditions through early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68112" cy="2240280"/>
          </a:xfrm>
          <a:prstGeom prst="roundRect">
            <a:avLst>
              <a:gd name="adj" fmla="val 4898"/>
            </a:avLst>
          </a:prstGeom>
          <a:solidFill>
            <a:srgbClr val="E8ECF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0136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03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68680" y="277063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Rental vacancy — lowest since 1968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17296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Effectively near zero for units below roughly $1,650/month.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468112" cy="2240280"/>
          </a:xfrm>
          <a:prstGeom prst="roundRect">
            <a:avLst>
              <a:gd name="adj" fmla="val 4898"/>
            </a:avLst>
          </a:prstGeom>
          <a:solidFill>
            <a:srgbClr val="E8ECFD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80136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03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2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492240" y="277063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Renter households are rent-burdened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317296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30% of income goes to rent; about 1 in 3 pay more than half.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468112" cy="2240280"/>
          </a:xfrm>
          <a:prstGeom prst="roundRect">
            <a:avLst>
              <a:gd name="adj" fmla="val 4898"/>
            </a:avLst>
          </a:prstGeom>
          <a:solidFill>
            <a:srgbClr val="E8ECFD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27024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03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100s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68680" y="52395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applications per affordable unit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564184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Housing Connect lotteries; the 2024 Section 8 reopening drew hundreds of thousands.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4069080"/>
            <a:ext cx="5468112" cy="2240280"/>
          </a:xfrm>
          <a:prstGeom prst="roundRect">
            <a:avLst>
              <a:gd name="adj" fmla="val 4898"/>
            </a:avLst>
          </a:prstGeom>
          <a:solidFill>
            <a:srgbClr val="E8ECFD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427024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03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6492240" y="52395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Shelter census and eviction pressure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564184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DHS census at historic highs; filings rebounded after the moratorium ended.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exists — behind a maze of programs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with its own agency, eligibility rules, deadlines, and application channel.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73936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03FEF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739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22128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One-Shot Deal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259689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grants when unexpected events make the rent impossible.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88536" y="155448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4568" y="1773936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03FEF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17739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DSS / HRA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44568" y="22128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CityFHEPS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44568" y="259689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Rental assistance vouchers, behind strict eligibility gates.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28432" y="155448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84464" y="1773936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03FEF"/>
          </a:solidFill>
          <a:ln/>
        </p:spPr>
      </p:sp>
      <p:sp>
        <p:nvSpPr>
          <p:cNvPr id="16" name="Text 14"/>
          <p:cNvSpPr/>
          <p:nvPr/>
        </p:nvSpPr>
        <p:spPr>
          <a:xfrm>
            <a:off x="8284464" y="17739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DOF / HPD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84464" y="22128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SCRIE &amp; DRIE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84464" y="259689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freezes for seniors and people with disabilities.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3739896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03FEF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7398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 OTDA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" y="41788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ERAP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04672" y="456285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rent-arrears relief on a separate portal with separate rules.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88536" y="35204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3739896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03FEF"/>
          </a:solidFill>
          <a:ln/>
        </p:spPr>
      </p:sp>
      <p:sp>
        <p:nvSpPr>
          <p:cNvPr id="26" name="Text 24"/>
          <p:cNvSpPr/>
          <p:nvPr/>
        </p:nvSpPr>
        <p:spPr>
          <a:xfrm>
            <a:off x="4544568" y="37398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44568" y="41788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Homebase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544568" y="456285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Homelessness-prevention services, organized by catchment area.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28432" y="35204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84464" y="3739896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03FEF"/>
          </a:solidFill>
          <a:ln/>
        </p:spPr>
      </p:sp>
      <p:sp>
        <p:nvSpPr>
          <p:cNvPr id="31" name="Text 29"/>
          <p:cNvSpPr/>
          <p:nvPr/>
        </p:nvSpPr>
        <p:spPr>
          <a:xfrm>
            <a:off x="8284464" y="37398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84464" y="41788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HomeFix &amp; repair loans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284464" y="456285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and preservation financing for small owners.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050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the right program at the right moment is not an inconvenience — it is an eviction that could have been prevented, a rent increase that could have been frozen.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City's own list proves the scatter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03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in the official NYC Housing Resource Portal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03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hostnames those 94 links point 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70916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City, State, federal, and nonprofit systems with no shared navigation, design, accounts, or search. Measured directly from the live portal's dataset (housing-data.js), extracted for this project, July 2026.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0" y="13258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portal's 94 links actually go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196596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www1.nyc.gov — the City's retired legacy host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2331720"/>
            <a:ext cx="5212080" cy="402336"/>
          </a:xfrm>
          <a:prstGeom prst="roundRect">
            <a:avLst>
              <a:gd name="adj" fmla="val 22727"/>
            </a:avLst>
          </a:prstGeom>
          <a:solidFill>
            <a:srgbClr val="103FEF"/>
          </a:solidFill>
          <a:ln/>
        </p:spPr>
      </p:sp>
      <p:sp>
        <p:nvSpPr>
          <p:cNvPr id="11" name="Text 9"/>
          <p:cNvSpPr/>
          <p:nvPr/>
        </p:nvSpPr>
        <p:spPr>
          <a:xfrm>
            <a:off x="10378440" y="233172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304495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city / federal / nonprofit (13 domains)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10712"/>
            <a:ext cx="1092855" cy="402336"/>
          </a:xfrm>
          <a:prstGeom prst="roundRect">
            <a:avLst>
              <a:gd name="adj" fmla="val 22727"/>
            </a:avLst>
          </a:prstGeom>
          <a:solidFill>
            <a:srgbClr val="CCCCCC"/>
          </a:solidFill>
          <a:ln/>
        </p:spPr>
      </p:sp>
      <p:sp>
        <p:nvSpPr>
          <p:cNvPr id="14" name="Text 12"/>
          <p:cNvSpPr/>
          <p:nvPr/>
        </p:nvSpPr>
        <p:spPr>
          <a:xfrm>
            <a:off x="6259215" y="341071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412394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 State sites (5 domains)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4489704"/>
            <a:ext cx="924724" cy="402336"/>
          </a:xfrm>
          <a:prstGeom prst="roundRect">
            <a:avLst>
              <a:gd name="adj" fmla="val 22727"/>
            </a:avLst>
          </a:prstGeom>
          <a:solidFill>
            <a:srgbClr val="CCCCCC"/>
          </a:solidFill>
          <a:ln/>
        </p:spPr>
      </p:sp>
      <p:sp>
        <p:nvSpPr>
          <p:cNvPr id="17" name="Text 15"/>
          <p:cNvSpPr/>
          <p:nvPr/>
        </p:nvSpPr>
        <p:spPr>
          <a:xfrm>
            <a:off x="6091084" y="448970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520293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portal.311.nyc.gov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5568696"/>
            <a:ext cx="672526" cy="402336"/>
          </a:xfrm>
          <a:prstGeom prst="roundRect">
            <a:avLst>
              <a:gd name="adj" fmla="val 22727"/>
            </a:avLst>
          </a:prstGeom>
          <a:solidFill>
            <a:srgbClr val="CCCC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38886" y="556869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0" y="62636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out of 94, by destination host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infrastructure is aging in place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16736"/>
            <a:ext cx="566928" cy="566928"/>
          </a:xfrm>
          <a:prstGeom prst="ellipse">
            <a:avLst/>
          </a:prstGeom>
          <a:solidFill>
            <a:srgbClr val="103FE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1449324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28016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rot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371600" y="1609344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portal still cites “Mayor Bill de Blasio” — copy at least two administrations stale, with COVID-era keywords lingering in the data.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566928" cy="566928"/>
          </a:xfrm>
          <a:prstGeom prst="ellipse">
            <a:avLst/>
          </a:prstGeom>
          <a:solidFill>
            <a:srgbClr val="103FE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" y="2510028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340864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Hand-maintained “search”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371600" y="2670048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jQuery script filtering a hand-edited JavaScript array (circa 2021). Results depend on curator-chosen keywords, not on what desperate people actually type.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3438144"/>
            <a:ext cx="566928" cy="566928"/>
          </a:xfrm>
          <a:prstGeom prst="ellipse">
            <a:avLst/>
          </a:prstGeom>
          <a:solidFill>
            <a:srgbClr val="103FE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" y="3570732"/>
            <a:ext cx="301752" cy="3017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40156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plumbing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371600" y="3730752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of 94 links are plain http://, 62 use the retired www1 hostname, and four card images silently 404 to a placeholder (verified live, July 2026).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4498848"/>
            <a:ext cx="566928" cy="566928"/>
          </a:xfrm>
          <a:prstGeom prst="ellipse">
            <a:avLst/>
          </a:prstGeom>
          <a:solidFill>
            <a:srgbClr val="103FE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" y="4631436"/>
            <a:ext cx="301752" cy="3017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46227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Siloed search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1371600" y="4791456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nyc.gov search is scoped per agency site — a search on HPD's site cannot surface an HRA rental-assistance page or the State's ERAP portal.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48640" y="5559552"/>
            <a:ext cx="566928" cy="566928"/>
          </a:xfrm>
          <a:prstGeom prst="ellipse">
            <a:avLst/>
          </a:prstGeom>
          <a:solidFill>
            <a:srgbClr val="103FEF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" y="5692140"/>
            <a:ext cx="301752" cy="30175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552297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design generations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1371600" y="585216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modern nyc.gov design system coexists with legacy agency templates. Users cross visual languages mid-task, and the .gov trust signal erodes.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pays the price for scatter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3977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Fragmentation is regressive. Navigating twenty systems is a tax paid in time, language, and bandwidth — and it falls hardest on the households with the least of each.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3794760"/>
            <a:ext cx="3977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i="1" dirty="0">
                <a:solidFill>
                  <a:srgbClr val="103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cost of not finding a program in time isn't frustration. It's a preventable eviction.”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983480" y="1417320"/>
            <a:ext cx="3200400" cy="2286000"/>
          </a:xfrm>
          <a:prstGeom prst="roundRect">
            <a:avLst>
              <a:gd name="adj" fmla="val 4800"/>
            </a:avLst>
          </a:prstGeom>
          <a:solidFill>
            <a:srgbClr val="E8ECFD"/>
          </a:solidFill>
          <a:ln/>
        </p:spPr>
      </p:sp>
      <p:sp>
        <p:nvSpPr>
          <p:cNvPr id="6" name="Shape 4"/>
          <p:cNvSpPr/>
          <p:nvPr/>
        </p:nvSpPr>
        <p:spPr>
          <a:xfrm>
            <a:off x="5239512" y="1673352"/>
            <a:ext cx="566928" cy="566928"/>
          </a:xfrm>
          <a:prstGeom prst="ellipse">
            <a:avLst/>
          </a:prstGeom>
          <a:solidFill>
            <a:srgbClr val="103FE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2100" y="1805940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39512" y="23774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Mobile-only households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239512" y="276148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tenants navigate all of this on a phone, on a deadline — against desktop-era pages.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357616" y="1417320"/>
            <a:ext cx="3200400" cy="2286000"/>
          </a:xfrm>
          <a:prstGeom prst="roundRect">
            <a:avLst>
              <a:gd name="adj" fmla="val 4800"/>
            </a:avLst>
          </a:prstGeom>
          <a:solidFill>
            <a:srgbClr val="E8ECFD"/>
          </a:solidFill>
          <a:ln/>
        </p:spPr>
      </p:sp>
      <p:sp>
        <p:nvSpPr>
          <p:cNvPr id="11" name="Shape 8"/>
          <p:cNvSpPr/>
          <p:nvPr/>
        </p:nvSpPr>
        <p:spPr>
          <a:xfrm>
            <a:off x="8613648" y="1673352"/>
            <a:ext cx="566928" cy="566928"/>
          </a:xfrm>
          <a:prstGeom prst="ellipse">
            <a:avLst/>
          </a:prstGeom>
          <a:solidFill>
            <a:srgbClr val="103FE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236" y="1805940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13648" y="23774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Limited-English speakers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613648" y="276148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Law 30 promises 10 languages; legacy pages lean on a translate widget instead.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983480" y="3913632"/>
            <a:ext cx="3200400" cy="2286000"/>
          </a:xfrm>
          <a:prstGeom prst="roundRect">
            <a:avLst>
              <a:gd name="adj" fmla="val 4800"/>
            </a:avLst>
          </a:prstGeom>
          <a:solidFill>
            <a:srgbClr val="E8ECFD"/>
          </a:solidFill>
          <a:ln/>
        </p:spPr>
      </p:sp>
      <p:sp>
        <p:nvSpPr>
          <p:cNvPr id="16" name="Shape 12"/>
          <p:cNvSpPr/>
          <p:nvPr/>
        </p:nvSpPr>
        <p:spPr>
          <a:xfrm>
            <a:off x="5239512" y="4169664"/>
            <a:ext cx="566928" cy="566928"/>
          </a:xfrm>
          <a:prstGeom prst="ellipse">
            <a:avLst/>
          </a:prstGeom>
          <a:solidFill>
            <a:srgbClr val="103FE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0" y="4302252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39512" y="48737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already in crisis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239512" y="52578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 dates and arrears don't wait while you do archaeology across agency sites.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357616" y="3913632"/>
            <a:ext cx="3200400" cy="2286000"/>
          </a:xfrm>
          <a:prstGeom prst="roundRect">
            <a:avLst>
              <a:gd name="adj" fmla="val 4800"/>
            </a:avLst>
          </a:prstGeom>
          <a:solidFill>
            <a:srgbClr val="E8ECFD"/>
          </a:solidFill>
          <a:ln/>
        </p:spPr>
      </p:sp>
      <p:sp>
        <p:nvSpPr>
          <p:cNvPr id="21" name="Shape 16"/>
          <p:cNvSpPr/>
          <p:nvPr/>
        </p:nvSpPr>
        <p:spPr>
          <a:xfrm>
            <a:off x="8613648" y="4169664"/>
            <a:ext cx="566928" cy="566928"/>
          </a:xfrm>
          <a:prstGeom prst="ellipse">
            <a:avLst/>
          </a:prstGeom>
          <a:solidFill>
            <a:srgbClr val="103FE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6236" y="4302252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13648" y="48737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Assistive-tech users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613648" y="52578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 bot protection and legacy templates add friction for accessibility tools.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builds: one front door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44168"/>
            <a:ext cx="548640" cy="548640"/>
          </a:xfrm>
          <a:prstGeom prst="ellipse">
            <a:avLst/>
          </a:prstGeom>
          <a:solidFill>
            <a:srgbClr val="103FE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472184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53312" y="132588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Task-first navigation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353312" y="165506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Organized by situation — “I can't pay rent” — not by the org chart.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313432"/>
            <a:ext cx="548640" cy="548640"/>
          </a:xfrm>
          <a:prstGeom prst="ellipse">
            <a:avLst/>
          </a:prstGeom>
          <a:solidFill>
            <a:srgbClr val="103FE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441448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53312" y="2295144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that speaks tenant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353312" y="262432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how people actually phrase problems, not curator-chosen keywords.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3282696"/>
            <a:ext cx="548640" cy="548640"/>
          </a:xfrm>
          <a:prstGeom prst="ellipse">
            <a:avLst/>
          </a:prstGeom>
          <a:solidFill>
            <a:srgbClr val="103FE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410712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53312" y="326440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design system, end to end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353312" y="359359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Digital Design System on every page, so trust never breaks mid-journey.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103FE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37997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53312" y="423367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Freshness as infrastructure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1353312" y="456285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Live, deduplicated resource data — not a hand-edited array from 2021.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8640" y="5221224"/>
            <a:ext cx="548640" cy="548640"/>
          </a:xfrm>
          <a:prstGeom prst="ellipse">
            <a:avLst/>
          </a:prstGeom>
          <a:solidFill>
            <a:srgbClr val="103FEF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5349240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53312" y="520293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by default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1353312" y="55321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Mobile-first, multilingual, WCAG as the floor — built for the people who need it most.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live: HPD homepage + 94-resource Housing Resources Portal, rebuilt on the NYC Digital Design System.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crises, one front door</dc:title>
  <dc:subject>PptxGenJS Presentation</dc:subject>
  <dc:creator>NYC Housing civic innovation project</dc:creator>
  <cp:lastModifiedBy>NYC Housing civic innovation project</cp:lastModifiedBy>
  <cp:revision>1</cp:revision>
  <dcterms:created xsi:type="dcterms:W3CDTF">2026-07-21T19:38:27Z</dcterms:created>
  <dcterms:modified xsi:type="dcterms:W3CDTF">2026-07-21T19:38:27Z</dcterms:modified>
</cp:coreProperties>
</file>